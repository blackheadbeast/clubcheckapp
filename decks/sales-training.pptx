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F59E0B"/>
                </a:solidFill>
              </a:rPr>
              <a:t>ClubCheck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Sales Training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9CA3AF"/>
                </a:solidFill>
              </a:rPr>
              <a:t>For Sales Representatives — Confidential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126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CA3AF"/>
                </a:solidFill>
              </a:rPr>
              <a:t>v1.0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219456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911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71717"/>
                </a:solidFill>
              </a:rPr>
              <a:t>YOUR ROLE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What you're here to 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11091672" cy="1905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54864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</a:rPr>
              <a:t>Educate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04288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CA3AF"/>
                </a:solidFill>
              </a:rPr>
              <a:t>Help gym owners see the real cost of their current setup.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017520"/>
            <a:ext cx="54864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9260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</a:rPr>
              <a:t>Demonstrate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10128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CA3AF"/>
                </a:solidFill>
              </a:rPr>
              <a:t>Show ClubCheck live — it's simple enough to demo in 5 minutes.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023360"/>
            <a:ext cx="54864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9319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</a:rPr>
              <a:t>Convert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315968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CA3AF"/>
                </a:solidFill>
              </a:rPr>
              <a:t>Move them from curiosity to a free trial within the first call.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029200"/>
            <a:ext cx="54864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9377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59E0B"/>
                </a:solidFill>
              </a:rPr>
              <a:t>Onboard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321808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CA3AF"/>
                </a:solidFill>
              </a:rPr>
              <a:t>Hand off to the success team after trial starts.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219456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911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71717"/>
                </a:solidFill>
              </a:rPr>
              <a:t>IDEAL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Who to target.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11091672" cy="1905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3657600" cy="4572000"/>
          </a:xfrm>
          <a:prstGeom prst="rect">
            <a:avLst/>
          </a:prstGeom>
          <a:solidFill>
            <a:srgbClr val="171717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9E0B"/>
                </a:solidFill>
              </a:rPr>
              <a:t>Gym 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517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CrossFit boxes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089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Yoga studios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Martial arts schools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0233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Personal training studios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4805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Boutique fitness gyms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1920240"/>
            <a:ext cx="3657600" cy="4572000"/>
          </a:xfrm>
          <a:prstGeom prst="rect">
            <a:avLst/>
          </a:prstGeom>
          <a:solidFill>
            <a:srgbClr val="171717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20116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9E0B"/>
                </a:solidFill>
              </a:rPr>
              <a:t>Size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6517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10–150 active members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1089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1–5 staff members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5661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Single location (for now)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0233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Owner-operated or small team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920240"/>
            <a:ext cx="3657600" cy="4572000"/>
          </a:xfrm>
          <a:prstGeom prst="rect">
            <a:avLst/>
          </a:prstGeom>
          <a:solidFill>
            <a:srgbClr val="171717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201168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9E0B"/>
                </a:solidFill>
              </a:rPr>
              <a:t>Pain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6517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Using paper/spreadsheets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1089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Manual payment collection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5661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No member visibility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402336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• Paying $100+/mo for clunky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219456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911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71717"/>
                </a:solidFill>
              </a:rPr>
              <a:t>DISCOVERY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Questions that open doors.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11091672" cy="1905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11064240" cy="777240"/>
          </a:xfrm>
          <a:prstGeom prst="rect">
            <a:avLst/>
          </a:prstGeom>
          <a:solidFill>
            <a:srgbClr val="171717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How are members currently checking in?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59E0B"/>
                </a:solidFill>
              </a:rPr>
              <a:t>Uncovers clipboard/key-fob pain immediately.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816352"/>
            <a:ext cx="11064240" cy="777240"/>
          </a:xfrm>
          <a:prstGeom prst="rect">
            <a:avLst/>
          </a:prstGeom>
          <a:solidFill>
            <a:srgbClr val="171717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862072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How do you collect membership payments today?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278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59E0B"/>
                </a:solidFill>
              </a:rPr>
              <a:t>Exposes Venmo/cash chaos — sets up Stripe story.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712464"/>
            <a:ext cx="11064240" cy="777240"/>
          </a:xfrm>
          <a:prstGeom prst="rect">
            <a:avLst/>
          </a:prstGeom>
          <a:solidFill>
            <a:srgbClr val="171717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758184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How do you know if a member is at-risk of leaving?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12394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59E0B"/>
                </a:solidFill>
              </a:rPr>
              <a:t>They usually can't answer — sets up analytics value.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608576"/>
            <a:ext cx="11064240" cy="777240"/>
          </a:xfrm>
          <a:prstGeom prst="rect">
            <a:avLst/>
          </a:prstGeom>
          <a:solidFill>
            <a:srgbClr val="171717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654296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What does it cost you when a member ghosts?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02005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59E0B"/>
                </a:solidFill>
              </a:rPr>
              <a:t>Quantifies retention pain in dollar terms.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504688"/>
            <a:ext cx="11064240" cy="777240"/>
          </a:xfrm>
          <a:prstGeom prst="rect">
            <a:avLst/>
          </a:prstGeom>
          <a:solidFill>
            <a:srgbClr val="171717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550408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Have you looked at software before? What stopped you?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1616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59E0B"/>
                </a:solidFill>
              </a:rPr>
              <a:t>Reveals price/complexity objections early.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219456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911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71717"/>
                </a:solidFill>
              </a:rPr>
              <a:t>DEMO SCRIPT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5-minute live walkthrough.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11091672" cy="1905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731520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02996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71717"/>
                </a:solidFill>
              </a:rPr>
              <a:t>0:00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96596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Open 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196596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CA3AF"/>
                </a:solidFill>
              </a:rPr>
              <a:t>Show the live check-in feed. Say: 'This is what your front desk sees.'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70048"/>
            <a:ext cx="731520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779776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71717"/>
                </a:solidFill>
              </a:rPr>
              <a:t>1:00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71576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QR check-in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715768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CA3AF"/>
                </a:solidFill>
              </a:rPr>
              <a:t>Scan the member QR code on your phone. Count the seconds: 'Three seconds.'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419856"/>
            <a:ext cx="731520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529584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71717"/>
                </a:solidFill>
              </a:rPr>
              <a:t>2:00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465576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Member portal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3465576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CA3AF"/>
                </a:solidFill>
              </a:rPr>
              <a:t>Open a member link. Show streak, history, waiver. Say: 'They never need an app.'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169664"/>
            <a:ext cx="731520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27939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71717"/>
                </a:solidFill>
              </a:rPr>
              <a:t>3:00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15384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Billing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4215384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CA3AF"/>
                </a:solidFill>
              </a:rPr>
              <a:t>Show Stripe subscription view. Say: 'Recurring. Automatic. No chasing.'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919472"/>
            <a:ext cx="731520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0292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71717"/>
                </a:solidFill>
              </a:rPr>
              <a:t>4:00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965192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Analytics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4965192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CA3AF"/>
                </a:solidFill>
              </a:rPr>
              <a:t>Show attendance trends. Say: 'You see problems before members leave.'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669280"/>
            <a:ext cx="731520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77900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71717"/>
                </a:solidFill>
              </a:rPr>
              <a:t>4:45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7150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0" y="57150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CA3AF"/>
                </a:solidFill>
              </a:rPr>
              <a:t>Say: 'Start your 14-day trial right now — takes 8 minutes to set up.'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219456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911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71717"/>
                </a:solidFill>
              </a:rPr>
              <a:t>OBJECTIONS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Handle every pushback with confidence.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11091672" cy="1905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11064240" cy="1051560"/>
          </a:xfrm>
          <a:prstGeom prst="rect">
            <a:avLst/>
          </a:prstGeom>
          <a:solidFill>
            <a:srgbClr val="171717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54864" cy="1051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65960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</a:rPr>
              <a:t>"It's too expensive."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5915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</a:rPr>
              <a:t>"Our Starter plan is $49/mo. How much are you spending on paper, Venmo, and your current tool? Most owners save money on day one."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063240"/>
            <a:ext cx="11064240" cy="1051560"/>
          </a:xfrm>
          <a:prstGeom prst="rect">
            <a:avLst/>
          </a:prstGeom>
          <a:solidFill>
            <a:srgbClr val="171717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3063240"/>
            <a:ext cx="54864" cy="1051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108960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</a:rPr>
              <a:t>"My members won't use QR codes."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50215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</a:rPr>
              <a:t>"No app download needed — they just tap a link or scan once. We've never had a member refuse. They love seeing their streak."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206240"/>
            <a:ext cx="11064240" cy="1051560"/>
          </a:xfrm>
          <a:prstGeom prst="rect">
            <a:avLst/>
          </a:prstGeom>
          <a:solidFill>
            <a:srgbClr val="171717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206240"/>
            <a:ext cx="54864" cy="1051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251960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</a:rPr>
              <a:t>"We're too small for software."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64515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</a:rPr>
              <a:t>"That's exactly why this works — setup is 8 minutes, not 8 days. And you'll stop losing members to disorganization."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349240"/>
            <a:ext cx="11064240" cy="1051560"/>
          </a:xfrm>
          <a:prstGeom prst="rect">
            <a:avLst/>
          </a:prstGeom>
          <a:solidFill>
            <a:srgbClr val="171717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5349240"/>
            <a:ext cx="54864" cy="1051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394960"/>
            <a:ext cx="10515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</a:rPr>
              <a:t>"I need to think about it."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78815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</a:rPr>
              <a:t>"What's the biggest concern? Let's solve that now. Your 14-day free trial means zero risk — you can cancel anytime."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219456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911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71717"/>
                </a:solidFill>
              </a:rPr>
              <a:t>PRICING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Know your numbers.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11091672" cy="1905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" y="1920240"/>
            <a:ext cx="4754880" cy="4572000"/>
          </a:xfrm>
          <a:prstGeom prst="rect">
            <a:avLst/>
          </a:prstGeom>
          <a:solidFill>
            <a:srgbClr val="171717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01168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5603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59E0B"/>
                </a:solidFill>
              </a:rPr>
              <a:t>$49/mo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2697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CA3AF"/>
                </a:solidFill>
              </a:rPr>
              <a:t>$470/yr/year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2461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Up to 75 members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7033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✓  QR check-ins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142232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✓  Member portal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581144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✓  Stripe billing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020056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✓  Email support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920240"/>
            <a:ext cx="4754880" cy="4572000"/>
          </a:xfrm>
          <a:prstGeom prst="rect">
            <a:avLst/>
          </a:prstGeom>
          <a:solidFill>
            <a:srgbClr val="171717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2011680"/>
            <a:ext cx="4297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5603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59E0B"/>
                </a:solidFill>
              </a:rPr>
              <a:t>$89/mo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2697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CA3AF"/>
                </a:solidFill>
              </a:rPr>
              <a:t>$870/yr/year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32461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Up to 150 members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7033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✓  Everything in Starter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142232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✓  Staff role system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581144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✓  Advanced analytics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5020056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✓  Priority support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9224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59E0B"/>
                </a:solidFill>
              </a:rPr>
              <a:t>Always lead with annual — it's ~$200 savings and better for retention.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219456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911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71717"/>
                </a:solidFill>
              </a:rPr>
              <a:t>COMPETITION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How to win the comparison.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11091672" cy="1905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9CA3AF"/>
                </a:solidFill>
              </a:rPr>
              <a:t>When they mention a competitor, use this: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331720"/>
            <a:ext cx="11064240" cy="1920240"/>
          </a:xfrm>
          <a:prstGeom prst="rect">
            <a:avLst/>
          </a:prstGeom>
          <a:solidFill>
            <a:srgbClr val="171717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23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</a:rPr>
              <a:t>vs. Mindbody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9864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CA3AF"/>
                </a:solidFill>
              </a:rPr>
              <a:t>Them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289864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ClubCheck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4612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✗  Mindbody starts at $129/mo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324612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✓  ClubCheck starts at $49/mo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56616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✗  Complex setup — takes weeks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356616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✓  Setup in under 10 minutes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88620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✗  No streak tracking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388620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✓  Built-in motivation features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20624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✗  Overkill for boutique gyms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420624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✓  Designed for small gyms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434840"/>
            <a:ext cx="11064240" cy="1920240"/>
          </a:xfrm>
          <a:prstGeom prst="rect">
            <a:avLst/>
          </a:prstGeom>
          <a:solidFill>
            <a:srgbClr val="171717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5262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59E0B"/>
                </a:solidFill>
              </a:rPr>
              <a:t>vs. Pike13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00176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CA3AF"/>
                </a:solidFill>
              </a:rPr>
              <a:t>Them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500176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ClubCheck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34924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✗  Pike13 starts at $96/mo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534924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✓  ClubCheck is 50% cheaper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66928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✗  Steep learning curve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566928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✓  Intuitive from day one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98932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✗  No member portal/link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6480" y="598932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✓  Every member gets a personal link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30936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✗  No waiver system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630936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✓  Waiver built 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219456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911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71717"/>
                </a:solidFill>
              </a:rPr>
              <a:t>FOLLOW-UP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The winning cadence.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11091672" cy="1905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914400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02996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71717"/>
                </a:solidFill>
              </a:rPr>
              <a:t>Day 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9659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Call/demo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196596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CA3AF"/>
                </a:solidFill>
              </a:rPr>
              <a:t>Run the 5-min demo. Push for trial signup before you hang up.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70048"/>
            <a:ext cx="914400" cy="640080"/>
          </a:xfrm>
          <a:prstGeom prst="rect">
            <a:avLst/>
          </a:prstGeom>
          <a:solidFill>
            <a:srgbClr val="171717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779776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9E0B"/>
                </a:solidFill>
              </a:rPr>
              <a:t>Day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715768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Email recap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2715768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CA3AF"/>
                </a:solidFill>
              </a:rPr>
              <a:t>Send a one-line recap: 'Great chat — here's your trial link: clubcheckapp.com'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419856"/>
            <a:ext cx="914400" cy="640080"/>
          </a:xfrm>
          <a:prstGeom prst="rect">
            <a:avLst/>
          </a:prstGeom>
          <a:solidFill>
            <a:srgbClr val="171717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529584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9E0B"/>
                </a:solidFill>
              </a:rPr>
              <a:t>Day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3465576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Check-in call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3465576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CA3AF"/>
                </a:solidFill>
              </a:rPr>
              <a:t>'Did you get a chance to set up? I can walk you through QR setup in 5 min.'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169664"/>
            <a:ext cx="914400" cy="640080"/>
          </a:xfrm>
          <a:prstGeom prst="rect">
            <a:avLst/>
          </a:prstGeom>
          <a:solidFill>
            <a:srgbClr val="171717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279392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9E0B"/>
                </a:solidFill>
              </a:rPr>
              <a:t>Day 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4215384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Value drop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4215384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CA3AF"/>
                </a:solidFill>
              </a:rPr>
              <a:t>Share a relevant case study or stat. Re-anchor on their specific pain.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919472"/>
            <a:ext cx="914400" cy="640080"/>
          </a:xfrm>
          <a:prstGeom prst="rect">
            <a:avLst/>
          </a:prstGeom>
          <a:solidFill>
            <a:srgbClr val="171717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0292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9E0B"/>
                </a:solidFill>
              </a:rPr>
              <a:t>Day 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496519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Trial-end push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39" y="4965192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CA3AF"/>
                </a:solidFill>
              </a:rPr>
              <a:t>'Your trial ends soon — want me to lock in annual pricing today?'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669280"/>
            <a:ext cx="914400" cy="640080"/>
          </a:xfrm>
          <a:prstGeom prst="rect">
            <a:avLst/>
          </a:prstGeom>
          <a:solidFill>
            <a:srgbClr val="171717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779008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9E0B"/>
                </a:solidFill>
              </a:rPr>
              <a:t>Day 21+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57150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Long-term nurture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49039" y="5715000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CA3AF"/>
                </a:solidFill>
              </a:rPr>
              <a:t>Monthly touchpoint. Share product updates. Keep them warm.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219456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911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71717"/>
                </a:solidFill>
              </a:rPr>
              <a:t>YOUR KPIS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How success is measured.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11091672" cy="1905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5394960" cy="1828800"/>
          </a:xfrm>
          <a:prstGeom prst="rect">
            <a:avLst/>
          </a:prstGeom>
          <a:solidFill>
            <a:srgbClr val="171717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Calls/week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6032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59E0B"/>
                </a:solidFill>
              </a:rPr>
              <a:t>20+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918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</a:rPr>
              <a:t>Min outreach volume to hit pipeline targets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920240"/>
            <a:ext cx="5394960" cy="1828800"/>
          </a:xfrm>
          <a:prstGeom prst="rect">
            <a:avLst/>
          </a:prstGeom>
          <a:solidFill>
            <a:srgbClr val="171717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0574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Demo-to-trial 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256032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59E0B"/>
                </a:solidFill>
              </a:rPr>
              <a:t>&gt;40%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32918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</a:rPr>
              <a:t>If below 30%, revisit your discovery questions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023360"/>
            <a:ext cx="5394960" cy="1828800"/>
          </a:xfrm>
          <a:prstGeom prst="rect">
            <a:avLst/>
          </a:prstGeom>
          <a:solidFill>
            <a:srgbClr val="171717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1605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Trial-to-paid 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66344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59E0B"/>
                </a:solidFill>
              </a:rPr>
              <a:t>&gt;60%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3949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</a:rPr>
              <a:t>If below 50%, improve onboarding handoff quality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4023360"/>
            <a:ext cx="5394960" cy="1828800"/>
          </a:xfrm>
          <a:prstGeom prst="rect">
            <a:avLst/>
          </a:prstGeom>
          <a:solidFill>
            <a:srgbClr val="171717"/>
          </a:solidFill>
          <a:ln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416052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Monthly deals closed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4663440"/>
            <a:ext cx="4937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59E0B"/>
                </a:solidFill>
              </a:rPr>
              <a:t>5+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539496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CA3AF"/>
                </a:solidFill>
              </a:rPr>
              <a:t>Each deal = $49–$89 MRR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365760"/>
            <a:ext cx="2194560" cy="320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911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71717"/>
                </a:solidFill>
              </a:rPr>
              <a:t>RESOURCES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What's in your toolkit.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11091672" cy="1905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54864" cy="594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Live demo account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860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clubcheckapp.com — ask your manager for demo credentials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70048"/>
            <a:ext cx="54864" cy="594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7004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Pitch deck (PDF)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0358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Use the ClubCheck 10-slide pitch deck for email follow-ups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419856"/>
            <a:ext cx="54864" cy="594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419856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Case study templates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785616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Two ready-to-use testimonial stories (CrossFit + Yoga)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169664"/>
            <a:ext cx="54864" cy="594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169664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Pricing one-pager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535424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Single-page PDF comparing Starter vs Pro — great for email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919472"/>
            <a:ext cx="54864" cy="594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91947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Onboarding hand-off doc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285232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Complete this form after a trial starts; success team picks it up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669280"/>
            <a:ext cx="54864" cy="5943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6692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Slack channel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03504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CA3AF"/>
                </a:solidFill>
              </a:rPr>
              <a:t>#sales-team — post wins, questions, and competitive intel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</a:rPr>
              <a:t>You're ready.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9CA3AF"/>
                </a:solidFill>
              </a:rPr>
              <a:t>Remember: you're not selling software — you're selling time back to gym owners.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0" y="3840480"/>
            <a:ext cx="4480560" cy="7772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0" y="3904487"/>
            <a:ext cx="4480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71717"/>
                </a:solidFill>
              </a:rPr>
              <a:t>clubcheckapp.com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9CA3AF"/>
                </a:solidFill>
              </a:rPr>
              <a:t>Questions? Reach your manager or ping #sales-team on Slack.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